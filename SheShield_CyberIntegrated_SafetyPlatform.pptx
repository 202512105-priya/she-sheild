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shap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365760"/>
            <a:ext cx="2560320" cy="1510589"/>
          </a:xfrm>
          <a:prstGeom prst="rect">
            <a:avLst/>
          </a:prstGeom>
        </p:spPr>
      </p:pic>
      <p:pic>
        <p:nvPicPr>
          <p:cNvPr id="3" name="Picture 2" descr="she_shield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C1D95"/>
                </a:solidFill>
                <a:latin typeface="Arial"/>
              </a:defRPr>
            </a:pPr>
            <a:r>
              <a:t>WSSOA (IT644) Project Presentation I  ·  Autumn 2026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Dhirubhai Ambani University,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SHE SHIELD</a:t>
            </a:r>
          </a:p>
          <a:p>
            <a:pPr>
              <a:defRPr sz="1600" b="1">
                <a:solidFill>
                  <a:srgbClr val="BE185D"/>
                </a:solidFill>
                <a:latin typeface="Arial"/>
              </a:defRPr>
            </a:pPr>
            <a:r>
              <a:t>Cyber-Integrated Safety Platform for Women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A Proactive, Multi-Modal Emergency Dispatch and Cryptographic Forensic Ecosystem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31920" y="2926080"/>
          <a:ext cx="7498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36576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Sr. No.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Specific Engineering Role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Krisha Doshi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Mobile UI Engineering (Flutter / Material 3)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Priya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Navigation &amp; User Flow (Routing &amp; State)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Jainam Shah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Backend APIs (Flask REST Microservices)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Maahir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Database (PostgreSQL / Redis / Firestore)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Hitarth Shah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 Threat Models (PyTorch &amp; NLP Classifier)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Jay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DevOps &amp; Integration (Docker, CI/CD &amp; Gateways)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Nirmal Patel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Auth / RBAC (JWT &amp; Role Permissions)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Jenil Shah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Cybersecurity (SHA-256 Vault &amp; AES Encryption)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PROBLEM DEFINITION &amp; MARKET GAPS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Critical Limitations in Existing Personal Safety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417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B91C1C"/>
                </a:solidFill>
                <a:latin typeface="Arial"/>
              </a:defRPr>
            </a:pPr>
            <a:r>
              <a:t>1. Single-Vector Focus (Physical vs Cyber)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Current safety apps only handle physical panic buttons and completely ignore cyber harassment.</a:t>
            </a:r>
            <a:br/>
            <a:r>
              <a:t>• Digital stalking, image morphing, doxxing, sextortion, and extortion affect millions of women daily.</a:t>
            </a:r>
            <a:br/>
            <a:r>
              <a:t>• Zero integration exists between physical transit monitors and cyber incident reporting desks.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24912"/>
            <a:ext cx="10698480" cy="14173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C2410C"/>
                </a:solidFill>
                <a:latin typeface="Arial"/>
              </a:defRPr>
            </a:pPr>
            <a:r>
              <a:t>2. Acute Stress &amp; Panic Latency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Victims under acute physical or psychological stress cannot unlock phones or navigate complex apps.</a:t>
            </a:r>
            <a:br/>
            <a:r>
              <a:t>• Requiring a user to illuminate a screen, input PIN/biometrics, and dial numbers alerts assailants.</a:t>
            </a:r>
            <a:br/>
            <a:r>
              <a:t>• Lack of stealth triggers (BLE pendants, secret voice phrases, tactile hardware buttons) causes fatal delays.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61104"/>
            <a:ext cx="10698480" cy="141732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BE185D"/>
                </a:solidFill>
                <a:latin typeface="Arial"/>
              </a:defRPr>
            </a:pPr>
            <a:r>
              <a:t>3. Digital Evidence Destruction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Digital evidence (threats, blackmail, stalking chats) is easily deleted before police reporting.</a:t>
            </a:r>
            <a:br/>
            <a:r>
              <a:t>• Attackers force victims to wipe devices or utilize disappearing message features on social platforms.</a:t>
            </a:r>
            <a:br/>
            <a:r>
              <a:t>• Smartphone screenshots lack cryptographic timestamps, metadata, and hash proofs for Section 65B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12E81"/>
                </a:solidFill>
                <a:latin typeface="Arial"/>
              </a:defRPr>
            </a:pPr>
            <a:r>
              <a:t>Market Gap Summary : Modern safety necessitates a unified platform bridging immediate physical stealth triggers, proactive transit geofencing, and forensically sound cyber evidence preservation.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PROPOSED SOLUTION — THE SHE SHIELD ECOSYSTEM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Tri-Pillar Cyber-Physical Protection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4173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4C1D95"/>
                </a:solidFill>
                <a:latin typeface="Arial"/>
              </a:defRPr>
            </a:pPr>
            <a:r>
              <a:t>Pillar 1: Physical Emergency SOS + Real-Time Transit Tracking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Multi-modal stealth triggers: Bluetooth LE wearable panic pendant, secret phrase ('capcap'), power/volume click.</a:t>
            </a:r>
            <a:br/>
            <a:r>
              <a:t>• Sub-2-second emergency dispatch broadcasting GPS breadcrumbs to guardians &amp; police consoles simultaneously.</a:t>
            </a:r>
            <a:br/>
            <a:r>
              <a:t>• 'Cab Guardian' &amp; 'Walk Guardian' modules actively monitoring route deviations (&gt;30m offset) and nocturnal hotspots.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698480" cy="1417320"/>
          </a:xfrm>
          <a:prstGeom prst="roundRect">
            <a:avLst/>
          </a:prstGeom>
          <a:solidFill>
            <a:srgbClr val="FDF4FF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701A75"/>
                </a:solidFill>
                <a:latin typeface="Arial"/>
              </a:defRPr>
            </a:pPr>
            <a:r>
              <a:t>Pillar 2: AI-Powered Cybercrime Desk with OCR Screenshot Scanning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Built-in OCR ingestion pipeline parsing screenshots of blackmail, extortion, doxxing, and cyber harassment chats.</a:t>
            </a:r>
            <a:br/>
            <a:r>
              <a:t>• PyTorch NLP threat model evaluating harassment severity and classifying incident danger (e.g. 92% Critical Risk).</a:t>
            </a:r>
            <a:br/>
            <a:r>
              <a:t>• Automated generation of standardized police complaint dossiers with extracted timestamps, sender handles, and evidence URLs.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698480" cy="14173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400" b="1">
                <a:solidFill>
                  <a:srgbClr val="312E81"/>
                </a:solidFill>
                <a:latin typeface="Arial"/>
              </a:defRPr>
            </a:pPr>
            <a:r>
              <a:t>Pillar 3: Tamper-Proof Cryptographic Evidence Vault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• Continuous background blackbox audio/video recording initiated upon travel or emergency trigger.</a:t>
            </a:r>
            <a:br/>
            <a:r>
              <a:t>• Client-side SHA-256 cryptographic hashing executed prior to cloud upload, creating an immutable custody ledger.</a:t>
            </a:r>
            <a:br/>
            <a:r>
              <a:t>• AES-256-GCM encryption at rest and in transit, establishing legally incontrovertible proof for judicial court admissibility.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F0FDF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  <a:latin typeface="Arial"/>
              </a:defRPr>
            </a:pPr>
            <a:r>
              <a:t>Ecosystem Outcome : Unifies personal physical transit security with digital cyber defense into a single, high-availability mobile and cloud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STAKEHOLDERS &amp; USER ROLES (RBAC)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Role-Based Access Control and Persona Matrix</a:t>
            </a:r>
          </a:p>
        </p:txBody>
      </p:sp>
      <p:pic>
        <p:nvPicPr>
          <p:cNvPr id="3" name="Picture 2" descr="she_shield_stakeholders_r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66842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1148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 Persona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System Privileges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Security &amp; Access Scope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Women / Primary User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Stealth SOS dispatch, Cab &amp; Walk Guardian, Cybercrime reporting, Personal Vault access.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Full read/write of own telemetry, contacts, and personal cryptographic evidence.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Trusted Guardians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Receive real-time waypoint streams, route deviation push alerts, automated SMS links.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Scoped read-only access to linked user's active SOS sessions and live transit breadcrumbs.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Police / Emergency Responders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View live emergency case map, prioritize incidents, inspect victim profile &amp; court dossier.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Authorized access to active emergency distress sessions within geographic jurisdiction.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System Administrators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Manage RBAC roles, audit log viewer, unsafe zone polygons, AI threat model parameters.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Administrative system control, platform compliance, security monitoring, and server health.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CORE FUNCTIONAL REQUIREMENTS (BRD / SRS)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Engineered Capabilities for Life-Safety Operations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4206240"/>
                <a:gridCol w="256032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Requirement ID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Feature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Specification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Verification Criteria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FR-01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Instant SOS Dispatch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Emergency signal processing from trigger to server acknowledgment in &lt;= 2 seconds.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Sub-2s benchmark under 4G/LTE &amp; BLE relay triggers.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Live GPS Waypoint Streams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Continuous waypoint capture at 3–5s intervals with speed, heading, and Kalman smoothing.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Live breadcrumbs rendered on guardian/responder maps without lag.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FR-03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Route Deviation Alerts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Heuristic Haversine algorithm flagging transit offsets &gt;30m from planned route vector.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Automated alert push to guardians when cab veers off polyline path.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Cyber Incident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Tesseract/EasyOCR parsing of screenshots and NLP threat severity score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Accurate text extraction and risk score assignment in &lt;3 seconds.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FR-05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Automated Evidence Hashing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Client-side SHA-256 fingerprinting stamped on all video/audio assets prior to upload.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Cryptographic hash match verification between client and vault record.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NON-FUNCTIONAL REQUIREMENTS &amp; SECURITY MANDATES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Reliability, Privacy, Fault-Tolerance &amp; Integrity Standards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212080" cy="2194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4C1D95"/>
                </a:solidFill>
                <a:latin typeface="Arial"/>
              </a:defRPr>
            </a:pPr>
            <a:r>
              <a:t>NFR-01: High Availability (99.9% Uptime SLA)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Critical emergency endpoints hosted on auto-scaling WSGI workers with Redis queueing.</a:t>
            </a:r>
            <a:br/>
            <a:r>
              <a:t>• Zero single-point-of-failure: Health check monitoring with automatic pod failovers.</a:t>
            </a:r>
            <a:br/>
            <a:r>
              <a:t>• Rapid recovery objective (RTO &lt; 30s) ensuring continuous 24/7 emergency dispatch availability.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212080" cy="2194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NFR-02: Location Privacy &amp; Data Minimization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Strict adherence to DPDP Act (India) &amp; GDPR guidelines governing sensitive personal telemetry.</a:t>
            </a:r>
            <a:br/>
            <a:r>
              <a:t>• Automated 30-day scheduled purging of regular transit breadcrumbs for non-emergency sessions.</a:t>
            </a:r>
            <a:br/>
            <a:r>
              <a:t>• Geolocation coordinates encrypted in transit (TLS 1.3) and restricted strictly to linked guardians.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212080" cy="21945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C2410C"/>
                </a:solidFill>
                <a:latin typeface="Arial"/>
              </a:defRPr>
            </a:pPr>
            <a:r>
              <a:t>NFR-03: Offline SMS Fallback Queue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Automatic detection of cellular data packet loss or server unreachability on client devices.</a:t>
            </a:r>
            <a:br/>
            <a:r>
              <a:t>• Local SQLite coordinate queueing paired with automated SMS fallback gateway dispatch.</a:t>
            </a:r>
            <a:br/>
            <a:r>
              <a:t>• Direct SMS contains timestamp, device battery health, and live Google Maps coordinate hyperlink.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212080" cy="2194560"/>
          </a:xfrm>
          <a:prstGeom prst="roundRect">
            <a:avLst/>
          </a:prstGeom>
          <a:solidFill>
            <a:srgbClr val="FDF4FF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701A75"/>
                </a:solidFill>
                <a:latin typeface="Arial"/>
              </a:defRPr>
            </a:pPr>
            <a:r>
              <a:t>NFR-04: SHA-256 Evidence Integrity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Tamper-proof digital fingerprinting guaranteeing legal admissibility under Section 65B of Evidence Act.</a:t>
            </a:r>
            <a:br/>
            <a:r>
              <a:t>• Media digests calculated locally prior to transmission; any bit modification invalidates integrity.</a:t>
            </a:r>
            <a:br/>
            <a:r>
              <a:t>• Immutable database audit trail logging asset hash, file size, timestamp, and uploading UID.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Security Mandate : Security by design enforces zero-trust token authentication, ephemeral location retention, and immutable evidence notarization.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HIGH-LEVEL SYSTEM ARCHITECTURE (4-TIER DESIGN)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Decoupled Service-Oriented Framework for Scalable Emergency Operations</a:t>
            </a:r>
          </a:p>
        </p:txBody>
      </p:sp>
      <p:pic>
        <p:nvPicPr>
          <p:cNvPr id="3" name="Picture 2" descr="she_shield_4ti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583680" cy="40699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1D95"/>
                </a:solidFill>
                <a:latin typeface="Arial"/>
              </a:defRPr>
            </a:pPr>
            <a:r>
              <a:t>Tier 1: Presentation Layer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Flutter cross-platform client for Android/iOS with 60fps UI, stealth triggers, and sensors, coupled with React.js police command desk.</a:t>
            </a:r>
          </a:p>
          <a:p>
            <a:pPr>
              <a:defRPr sz="400"/>
            </a:pPr>
          </a:p>
          <a:p>
            <a:pPr>
              <a:defRPr sz="1300" b="1">
                <a:solidFill>
                  <a:srgbClr val="4C1D95"/>
                </a:solidFill>
                <a:latin typeface="Arial"/>
              </a:defRPr>
            </a:pPr>
            <a:r>
              <a:t>Tier 2: API Gateway &amp; Security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JWT authentication filter, RBAC role-enforcement, IP rate limiting, TLS 1.3 encryption, and reverse-proxy routing.</a:t>
            </a:r>
          </a:p>
          <a:p>
            <a:pPr>
              <a:defRPr sz="400"/>
            </a:pPr>
          </a:p>
          <a:p>
            <a:pPr>
              <a:defRPr sz="1300" b="1">
                <a:solidFill>
                  <a:srgbClr val="4C1D95"/>
                </a:solidFill>
                <a:latin typeface="Arial"/>
              </a:defRPr>
            </a:pPr>
            <a:r>
              <a:t>Tier 3: Core Application &amp; AI/OCR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Python Flask microservices handling parallel SOS dispatch, Haversine route deviation, PyTorch NLP threat classifier, and OCR screenshot pipeline.</a:t>
            </a:r>
          </a:p>
          <a:p>
            <a:pPr>
              <a:defRPr sz="400"/>
            </a:pPr>
          </a:p>
          <a:p>
            <a:pPr>
              <a:defRPr sz="1300" b="1">
                <a:solidFill>
                  <a:srgbClr val="4C1D95"/>
                </a:solidFill>
                <a:latin typeface="Arial"/>
              </a:defRPr>
            </a:pPr>
            <a:r>
              <a:t>Tier 4: Data &amp; Storage Layer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PostgreSQL for ACID relational records (users, RBAC, complaints, audit logs), Redis for sub-ms GPS telemetry streams, and AES-256 cloud media vault.</a:t>
            </a:r>
          </a:p>
          <a:p>
            <a:pPr>
              <a:defRPr sz="4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ARCHITECTURAL DIAGRAMS &amp; DATA PIPELINES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Emergency Parallel Broadcast &amp; Cryptographic Evidence Custody Chain</a:t>
            </a:r>
          </a:p>
        </p:txBody>
      </p:sp>
      <p:pic>
        <p:nvPicPr>
          <p:cNvPr id="3" name="Picture 2" descr="she_shield_data_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6030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TECHNOLOGY STACK JUSTIFICATION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Engineering Rationale for Architectural Choices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377440"/>
                <a:gridCol w="4846320"/>
              </a:tblGrid>
              <a:tr h="868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Component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Selected Technology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Justification in SheShield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Mobile Client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Presentation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Flutter (Dart 3.x)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Native 60fps performance on Android &amp; iOS, unified single codebase, low-latency BLE sensor access.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Command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React.js + Tailwind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High-density responsive web console for emergency police dispatchers with real-time WebSocket state.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Backend Services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Application APIs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Python Flask Microservices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Lightweight WSGI services, native integration with PyTorch/OpenCV AI models, asynchronous worker queues.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Relational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Strict ACID compliance, relational integrity for RBAC roles, audit trails, and structured police complaints.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In-Memory Telemetry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Cache &amp; Streams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Redis Pub/Sub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Sub-millisecond latency for live GPS waypoint broadcasting, temporary session caching, and rate limiting.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SECURITY ARCHITECTURE &amp; CRYPTOGRAPHIC INTEGRITY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Multi-Layered Cyber Defense and Chain-of-Custody Assurance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212080" cy="219456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4C1D95"/>
                </a:solidFill>
                <a:latin typeface="Arial"/>
              </a:defRPr>
            </a:pPr>
            <a:r>
              <a:t>1. Role-Based Access Control (RBAC) via JWT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Cryptographically signed JSON Web Tokens (JWT) enforcing granular endpoint permissions.</a:t>
            </a:r>
            <a:br/>
            <a:r>
              <a:t>• Strict role boundaries: Primary Users cannot modify admin zones; Guardians cannot view unlinked telemetry.</a:t>
            </a:r>
            <a:br/>
            <a:r>
              <a:t>• Short-lived access tokens (15 mins) paired with secure refresh tokens to prevent credential hijacking.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212080" cy="21945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312E81"/>
                </a:solidFill>
                <a:latin typeface="Arial"/>
              </a:defRPr>
            </a:pPr>
            <a:r>
              <a:t>2. AES-256-GCM Vault Encryption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Authenticated AES-256 Galois/Counter Mode (GCM) encrypting all vaulted audio, video, and screenshot assets.</a:t>
            </a:r>
            <a:br/>
            <a:r>
              <a:t>• Unique cryptographic initialization vectors (IVs) generated per asset to prevent replay and leakage attacks.</a:t>
            </a:r>
            <a:br/>
            <a:r>
              <a:t>• Decryption keys restricted strictly to authorized forensic responders and subpoena-validated officials.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212080" cy="21945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C2410C"/>
                </a:solidFill>
                <a:latin typeface="Arial"/>
              </a:defRPr>
            </a:pPr>
            <a:r>
              <a:t>3. IP-Level &amp; Token-Level Rate Limiting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Sliding-window rate limiters protecting emergency dispatch endpoints against Distributed Denial of Service (DDoS).</a:t>
            </a:r>
            <a:br/>
            <a:r>
              <a:t>• Redis-backed request tracking throttling unauthorized endpoint flooding while prioritizing active SOS signals.</a:t>
            </a:r>
            <a:br/>
            <a:r>
              <a:t>• Enforces IP reputation filtering and brute-force mitigation on authentication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212080" cy="2194560"/>
          </a:xfrm>
          <a:prstGeom prst="roundRect">
            <a:avLst/>
          </a:prstGeom>
          <a:solidFill>
            <a:srgbClr val="FDF4FF"/>
          </a:solidFill>
          <a:ln w="19050">
            <a:solidFill>
              <a:srgbClr val="E87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701A75"/>
                </a:solidFill>
                <a:latin typeface="Arial"/>
              </a:defRPr>
            </a:pPr>
            <a:r>
              <a:t>4. Cryptographic Hash Admissibility (Sec 65B)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SHA-256 digital fingerprint calculated client-side before media bytes leave user hardware.</a:t>
            </a:r>
            <a:br/>
            <a:r>
              <a:t>• Hash recorded in immutable ledger alongside UTC timestamp and device ID; bit-for-bit court proof.</a:t>
            </a:r>
            <a:br/>
            <a:r>
              <a:t>• Eliminates forensic defense challenges regarding evidence tampering in criminal proceedings.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897880"/>
            <a:ext cx="10698480" cy="594360"/>
          </a:xfrm>
          <a:prstGeom prst="roundRect">
            <a:avLst/>
          </a:prstGeom>
          <a:solidFill>
            <a:srgbClr val="F0FDF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  <a:latin typeface="Arial"/>
              </a:defRPr>
            </a:pPr>
            <a:r>
              <a:t>Cryptographic Assurance : SheShield delivers military-grade confidentiality, tamper-evident forensic validity, and zero-trust authorization.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CURRENT IMPLEMENTATION PROGRESS (WEEKS 1–11)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Sprint Deliverables and GitHub Repository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926080"/>
                <a:gridCol w="1645920"/>
              </a:tblGrid>
              <a:tr h="74458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Sprint Milestone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 Features &amp; Modules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Repository Artifacts (GitHub)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Status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Milestone 1: Foundations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System architecture, UI wireframes, theme setup, Provider state framework.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lib/main.dart, lib/theme/app_theme.dart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Milestone 2: Auth &amp;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User, Guardian, Responder, Admin registration and role-based route guard.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lib/screens/auth_screens.dart, police_admin_screens.dart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Milestone 3: SOS Center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Multi-modal trigger engine, 5s cancellable timer, volume button trigger, BLE sync.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lib/screens/sos_screens.dart, lib/services/sos_service.dart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Milestone 4: Travel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Cab Guardian &amp; Walk Guardian with 30m route offset deviation calculation.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lib/screens/travel_monitor_screen.dart, database_service.dart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Milestone 5: Cybercrime Desk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Cyber complaint intake, OCR screenshot scan, PyTorch threat score, PDF export.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lib/screens/cyber_screens.dart, pdf_report_service.dart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Milestone 6: Command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Admin Command Center, Responder live radar, and Evidence Locker vault.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lib/screens/admin_command_center_screen.dart, vault_screens.dart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4C1D95"/>
                </a:solidFill>
                <a:latin typeface="Arial"/>
              </a:defRPr>
            </a:pPr>
            <a:r>
              <a:t>NEXT STEPS (WEEKS 12–16) &amp; CONCLUSION</a:t>
            </a:r>
          </a:p>
          <a:p>
            <a:pPr>
              <a:defRPr sz="1300" b="0">
                <a:solidFill>
                  <a:srgbClr val="BE185D"/>
                </a:solidFill>
                <a:latin typeface="Arial"/>
              </a:defRPr>
            </a:pPr>
            <a:r>
              <a:t>Project Roadmap, Engineering Milestones &amp; Q&amp;A Floor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96012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4C1D95"/>
                </a:solidFill>
                <a:latin typeface="Arial"/>
              </a:defRPr>
            </a:pPr>
            <a:r>
              <a:t>Weeks 12–13: End-to-End Integration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Full integration testing between Flutter mobile client, Flask microservices, and React admin desk.</a:t>
            </a:r>
            <a:br/>
            <a:r>
              <a:t>• WebSocket live synchronization hardening across simulated multi-node responder environments.</a:t>
            </a:r>
            <a:br/>
            <a:r>
              <a:t>• Edge-case verification for offline network reconnects and SQLite synchronization queues.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10698480" cy="96012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4C1D95"/>
                </a:solidFill>
                <a:latin typeface="Arial"/>
              </a:defRPr>
            </a:pPr>
            <a:r>
              <a:t>Week 14: GPS Geofencing Benchmarks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Field trials evaluating Haversine route deviation accuracy across dense urban corridors.</a:t>
            </a:r>
            <a:br/>
            <a:r>
              <a:t>• Kalman filter calibration to eliminate multipath GPS jitter around high-rise infrastructure.</a:t>
            </a:r>
            <a:br/>
            <a:r>
              <a:t>• Latency benchmarking for automated deviation alerts dispatched to guardian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10698480" cy="96012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4C1D95"/>
                </a:solidFill>
                <a:latin typeface="Arial"/>
              </a:defRPr>
            </a:pPr>
            <a:r>
              <a:t>Week 15: High-Concurrency Load Testing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Locust and JMeter load testing simulating 5,000+ simultaneous emergency SOS trigger bursts.</a:t>
            </a:r>
            <a:br/>
            <a:r>
              <a:t>• Security penetration testing, API vulnerability scanning, and token lifecycle audits.</a:t>
            </a:r>
            <a:br/>
            <a:r>
              <a:t>• Performance optimization of PostgreSQL query indices and Redis pub/sub memory allocation.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96012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ctr">
              <a:defRPr sz="1300" b="1">
                <a:solidFill>
                  <a:srgbClr val="4C1D95"/>
                </a:solidFill>
                <a:latin typeface="Arial"/>
              </a:defRPr>
            </a:pPr>
            <a:r>
              <a:t>Week 16: Release &amp; Viva Evaluation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• Production Docker containerization, staging deployment, and signed APK release.</a:t>
            </a:r>
            <a:br/>
            <a:r>
              <a:t>• Community pilot testing with feedback collection and final documentation synthesis.</a:t>
            </a:r>
            <a:br/>
            <a:r>
              <a:t>• Project Viva Voce defense for IT644 (WSSOA) Autumn 2026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1005840"/>
          </a:xfrm>
          <a:prstGeom prst="roundRect">
            <a:avLst/>
          </a:prstGeom>
          <a:solidFill>
            <a:srgbClr val="4C1D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THANK YOU  ·  QUESTIONS &amp; ANSWERS</a:t>
            </a:r>
          </a:p>
          <a:p>
            <a:pPr algn="ctr">
              <a:defRPr sz="1200">
                <a:solidFill>
                  <a:srgbClr val="E9D5FF"/>
                </a:solidFill>
                <a:latin typeface="Arial"/>
              </a:defRPr>
            </a:pPr>
            <a:r>
              <a:t>SHE SHIELD — Cyber-Integrated Safety Platform for Women  |  Dhirubhai Ambani University, Gandhinagar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